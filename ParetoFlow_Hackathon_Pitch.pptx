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946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1371600"/>
            <a:ext cx="109728" cy="4114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88720" y="1280160"/>
            <a:ext cx="6858000" cy="42976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tlCol="0" anchor="ctr"/>
          <a:lstStyle/>
          <a:p>
            <a:pPr algn="ctr">
              <a:spcAft>
                <a:spcPts val="10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PROBLEM STATEMENT 25: READY FULL-STACK ANALYTICS</a:t>
            </a:r>
          </a:p>
          <a:p>
            <a:pPr>
              <a:spcAft>
                <a:spcPts val="400"/>
              </a:spcAft>
              <a:defRPr sz="4600" b="1">
                <a:solidFill>
                  <a:srgbClr val="FFFFFF"/>
                </a:solidFill>
                <a:latin typeface="Arial"/>
              </a:defRPr>
            </a:pPr>
            <a:r>
              <a:t>ParetoFlow</a:t>
            </a:r>
          </a:p>
          <a:p>
            <a:pPr>
              <a:spcAft>
                <a:spcPts val="2000"/>
              </a:spcAft>
              <a:defRPr sz="2000" b="1">
                <a:solidFill>
                  <a:srgbClr val="94A3B8"/>
                </a:solidFill>
                <a:latin typeface="Arial"/>
              </a:defRPr>
            </a:pPr>
            <a:r>
              <a:t>Intelligent Downtime Log &amp; Root-Cause Analyzer</a:t>
            </a:r>
          </a:p>
          <a:p>
            <a:pPr>
              <a:spcAft>
                <a:spcPts val="18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Eliminating anecdotal stoppages through live MTBF/MTTR analytics, dual-axis 80/20 Pareto root-cause identification, and automated repeat-failure alerts.</a:t>
            </a:r>
          </a:p>
          <a:p>
            <a:pPr>
              <a:defRPr sz="1050" b="1">
                <a:solidFill>
                  <a:srgbClr val="93C5FD"/>
                </a:solidFill>
                <a:latin typeface="Arial"/>
              </a:defRPr>
            </a:pPr>
            <a:r>
              <a:t>⚡ Sub-20s Stoppage Logger   |   📊 80/20 Pareto Engine   |   🚨 7-Day Repeat Alerts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0" y="1371600"/>
            <a:ext cx="3044952" cy="4114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3104" y="1691640"/>
            <a:ext cx="2011680" cy="148040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321040" y="3291840"/>
            <a:ext cx="3044952" cy="20116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0" rIns="182880" rtlCol="0" anchor="ctr"/>
          <a:lstStyle/>
          <a:p>
            <a:pPr algn="ctr">
              <a:spcAft>
                <a:spcPts val="400"/>
              </a:spcAft>
              <a:defRPr sz="1700" b="1">
                <a:solidFill>
                  <a:srgbClr val="FFFFFF"/>
                </a:solidFill>
                <a:latin typeface="Arial"/>
              </a:defRPr>
            </a:pPr>
            <a:r>
              <a:t>PARETOFLOW</a:t>
            </a:r>
          </a:p>
          <a:p>
            <a:pPr algn="ctr">
              <a:spcAft>
                <a:spcPts val="1000"/>
              </a:spcAft>
              <a:defRPr sz="1100">
                <a:solidFill>
                  <a:srgbClr val="94A3B8"/>
                </a:solidFill>
                <a:latin typeface="Arial"/>
              </a:defRPr>
            </a:pPr>
            <a:r>
              <a:t>Enterprise Reliability Suite</a:t>
            </a:r>
          </a:p>
          <a:p>
            <a:pPr algn="ctr">
              <a:defRPr sz="950" b="1">
                <a:solidFill>
                  <a:srgbClr val="10B981"/>
                </a:solidFill>
                <a:latin typeface="Arial"/>
              </a:defRPr>
            </a:pPr>
            <a:r>
              <a:t>● PRODUCTION READY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669280"/>
            <a:ext cx="10545775" cy="6858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64592" rtlCol="0" anchor="ctr"/>
          <a:lstStyle/>
          <a:p>
            <a:pPr algn="ctr">
              <a:defRPr sz="1100" b="1">
                <a:solidFill>
                  <a:srgbClr val="E2E8F0"/>
                </a:solidFill>
                <a:latin typeface="Arial"/>
              </a:defRPr>
            </a:pPr>
            <a:r>
              <a:t>Engineered by Team The Four Bits  |  Production Ready  |  FastAPI + Pandas + React 19 + Recharts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2563EB"/>
                </a:solidFill>
                <a:latin typeface="Arial"/>
              </a:defRPr>
            </a:pPr>
            <a:r>
              <a:t>PARETOFLOW | TEAM THE FOUR BITS</a:t>
            </a:r>
          </a:p>
          <a:p>
            <a:pPr>
              <a:defRPr sz="2400" b="1">
                <a:solidFill>
                  <a:srgbClr val="1E293B"/>
                </a:solidFill>
                <a:latin typeface="Arial"/>
              </a:defRPr>
            </a:pPr>
            <a:r>
              <a:t>The Anecdotal Stoppage Trap &amp; Industrial Reality</a:t>
            </a:r>
          </a:p>
        </p:txBody>
      </p:sp>
      <p:pic>
        <p:nvPicPr>
          <p:cNvPr id="4" name="Picture 3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365760"/>
            <a:ext cx="502920" cy="37010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64592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74320" rIns="228600" rtlCol="0" anchor="ctr"/>
          <a:lstStyle/>
          <a:p>
            <a:pPr algn="ctr">
              <a:spcAft>
                <a:spcPts val="1400"/>
              </a:spcAft>
              <a:defRPr sz="1600" b="1">
                <a:solidFill>
                  <a:srgbClr val="EF4444"/>
                </a:solidFill>
                <a:latin typeface="Arial"/>
              </a:defRPr>
            </a:pPr>
            <a:r>
              <a:t>1. Anecdotal Memory</a:t>
            </a:r>
          </a:p>
          <a:p>
            <a:pPr>
              <a:spcAft>
                <a:spcPts val="10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Stoppages are discussed verbally or jotted in paper logs.</a:t>
            </a:r>
          </a:p>
          <a:p>
            <a:pPr>
              <a:spcAft>
                <a:spcPts val="10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Human memory is biased: technicians remember annoying fixes, not costly ones.</a:t>
            </a:r>
          </a:p>
          <a:p>
            <a:pPr>
              <a:spcAft>
                <a:spcPts val="10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Shift transitions lose vital operational context between day and night crews.</a:t>
            </a:r>
          </a:p>
          <a:p>
            <a:pPr>
              <a:spcAft>
                <a:spcPts val="10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Result: Same recurring issues are treated as isolated events.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74320" rIns="228600" rtlCol="0" anchor="ctr"/>
          <a:lstStyle/>
          <a:p>
            <a:pPr algn="ctr">
              <a:spcAft>
                <a:spcPts val="1400"/>
              </a:spcAft>
              <a:defRPr sz="1600" b="1">
                <a:solidFill>
                  <a:srgbClr val="F59E0B"/>
                </a:solidFill>
                <a:latin typeface="Arial"/>
              </a:defRPr>
            </a:pPr>
            <a:r>
              <a:t>2. No Cause Aggregation</a:t>
            </a:r>
          </a:p>
          <a:p>
            <a:pPr>
              <a:spcAft>
                <a:spcPts val="10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No automated aggregation of downtime minutes by root cause.</a:t>
            </a:r>
          </a:p>
          <a:p>
            <a:pPr>
              <a:spcAft>
                <a:spcPts val="10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The 80/20 Pareto that would highlight the real problem doesn't exist on shop floor.</a:t>
            </a:r>
          </a:p>
          <a:p>
            <a:pPr>
              <a:spcAft>
                <a:spcPts val="10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Maintenance teams spend 80% of their effort fixing minor symptoms.</a:t>
            </a:r>
          </a:p>
          <a:p>
            <a:pPr>
              <a:spcAft>
                <a:spcPts val="10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Vital root causes remain hidden and continue draining factory capacity.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74320" rIns="228600" rtlCol="0" anchor="ctr"/>
          <a:lstStyle/>
          <a:p>
            <a:pPr algn="ctr">
              <a:spcAft>
                <a:spcPts val="1400"/>
              </a:spcAft>
              <a:defRPr sz="1600" b="1">
                <a:solidFill>
                  <a:srgbClr val="2563EB"/>
                </a:solidFill>
                <a:latin typeface="Arial"/>
              </a:defRPr>
            </a:pPr>
            <a:r>
              <a:t>3. Stale &amp; Delayed Metrics</a:t>
            </a:r>
          </a:p>
          <a:p>
            <a:pPr>
              <a:spcAft>
                <a:spcPts val="10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MTBF and MTTR computed weeks late in manual spreadsheets.</a:t>
            </a:r>
          </a:p>
          <a:p>
            <a:pPr>
              <a:spcAft>
                <a:spcPts val="10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Zero real-time visibility into machine availability and health degradation.</a:t>
            </a:r>
          </a:p>
          <a:p>
            <a:pPr>
              <a:spcAft>
                <a:spcPts val="10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Silent recurring breakdowns (&gt;=3x in 7 days) go completely unnoticed.</a:t>
            </a:r>
          </a:p>
          <a:p>
            <a:pPr>
              <a:spcAft>
                <a:spcPts val="10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Unscheduled breakdowns cost automotive &amp; process plants $22k+/hour.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2563EB"/>
                </a:solidFill>
                <a:latin typeface="Arial"/>
              </a:defRPr>
            </a:pPr>
            <a:r>
              <a:t>PARETOFLOW | TEAM THE FOUR BITS</a:t>
            </a:r>
          </a:p>
          <a:p>
            <a:pPr>
              <a:defRPr sz="2400" b="1">
                <a:solidFill>
                  <a:srgbClr val="1E293B"/>
                </a:solidFill>
                <a:latin typeface="Arial"/>
              </a:defRPr>
            </a:pPr>
            <a:r>
              <a:t>Our Solution: The ParetoFlow Closed-Loop Platform</a:t>
            </a:r>
          </a:p>
        </p:txBody>
      </p:sp>
      <p:pic>
        <p:nvPicPr>
          <p:cNvPr id="4" name="Picture 3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365760"/>
            <a:ext cx="502920" cy="37010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645920"/>
            <a:ext cx="24688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74320" rIns="182880" rtlCol="0" anchor="ctr"/>
          <a:lstStyle/>
          <a:p>
            <a:pPr algn="ctr">
              <a:spcAft>
                <a:spcPts val="1400"/>
              </a:spcAft>
              <a:defRPr sz="1400" b="1">
                <a:solidFill>
                  <a:srgbClr val="2563EB"/>
                </a:solidFill>
                <a:latin typeface="Arial"/>
              </a:defRPr>
            </a:pPr>
            <a:r>
              <a:rPr sz="1400" dirty="0"/>
              <a:t>01. Sub-20s Logging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rPr sz="1400" dirty="0"/>
              <a:t>•  Designed for shop-floor speed.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rPr sz="1400" dirty="0"/>
              <a:t>•  1-tap duration chips: 5m, 15m, 30m, 45m, 1h, 2h.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rPr sz="1400" dirty="0"/>
              <a:t>•  Controlled reason codes categorized by Mechanical, Electrical, Operational.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rPr sz="1400" dirty="0"/>
              <a:t>•  Timestamp sanity checks ensure zero invalid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645920"/>
            <a:ext cx="24688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74320" rIns="182880" rtlCol="0" anchor="ctr"/>
          <a:lstStyle/>
          <a:p>
            <a:pPr algn="ctr">
              <a:spcAft>
                <a:spcPts val="14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rPr sz="1400" dirty="0"/>
              <a:t>02. Live MTBF &amp; MTTR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rPr sz="1400" dirty="0"/>
              <a:t>•  Continuous mathematical computation via Pandas.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rPr sz="1400" dirty="0"/>
              <a:t>•  MTBF = Run Time / Failure Count.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rPr sz="1400" dirty="0"/>
              <a:t>•  MTTR = mean(end - start).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rPr sz="1400" dirty="0"/>
              <a:t>•  Availability % benchmarks against world-class OEE targets.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81344" y="1645920"/>
            <a:ext cx="24688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74320" rIns="182880" rtlCol="0" anchor="ctr"/>
          <a:lstStyle/>
          <a:p>
            <a:pPr algn="ctr">
              <a:spcAft>
                <a:spcPts val="1400"/>
              </a:spcAft>
              <a:defRPr sz="1400" b="1">
                <a:solidFill>
                  <a:srgbClr val="F59E0B"/>
                </a:solidFill>
                <a:latin typeface="Arial"/>
              </a:defRPr>
            </a:pPr>
            <a:r>
              <a:rPr sz="1400" dirty="0"/>
              <a:t>03. 80/20 Pareto Analyzer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rPr sz="1400" dirty="0"/>
              <a:t>•  Dual-axis chart ranking causes by downtime minutes.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rPr sz="1400" dirty="0"/>
              <a:t>•  Cumulative-% curve up to 100%.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rPr sz="1400" dirty="0"/>
              <a:t>•  80% cutoff line visually identifies the 'Vital Few' root causes.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rPr sz="1400" dirty="0"/>
              <a:t>•  Focuses maintenance on highest ROI fixes.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06256" y="1645920"/>
            <a:ext cx="24688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74320" rIns="182880" rtlCol="0" anchor="ctr"/>
          <a:lstStyle/>
          <a:p>
            <a:pPr algn="ctr">
              <a:spcAft>
                <a:spcPts val="1400"/>
              </a:spcAft>
              <a:defRPr sz="1400" b="1">
                <a:solidFill>
                  <a:srgbClr val="EF4444"/>
                </a:solidFill>
                <a:latin typeface="Arial"/>
              </a:defRPr>
            </a:pPr>
            <a:r>
              <a:rPr sz="1400" dirty="0"/>
              <a:t>04. Repeat Alert Engine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rPr sz="1400" dirty="0"/>
              <a:t>•  Automated sliding 7-day window sweep.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rPr sz="1400" dirty="0"/>
              <a:t>•  Flags same machine + reason &gt;= 3x in 7 days.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rPr sz="1400" dirty="0"/>
              <a:t>•  Dynamic Root Cause Analysis (RCA) recommendations.</a:t>
            </a:r>
          </a:p>
          <a:p>
            <a:pPr>
              <a:spcAft>
                <a:spcPts val="8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rPr sz="1400" dirty="0"/>
              <a:t>•  Acknowledge &amp; Resolve accountability.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2563EB"/>
                </a:solidFill>
                <a:latin typeface="Arial"/>
              </a:defRPr>
            </a:pPr>
            <a:r>
              <a:t>PARETOFLOW | TEAM THE FOUR BITS</a:t>
            </a:r>
          </a:p>
          <a:p>
            <a:pPr>
              <a:defRPr sz="2400" b="1">
                <a:solidFill>
                  <a:srgbClr val="1E293B"/>
                </a:solidFill>
                <a:latin typeface="Arial"/>
              </a:defRPr>
            </a:pPr>
            <a:r>
              <a:t>Rapid Shop-Floor Logging (&lt; 20 Seconds)</a:t>
            </a:r>
          </a:p>
        </p:txBody>
      </p:sp>
      <p:pic>
        <p:nvPicPr>
          <p:cNvPr id="4" name="Picture 3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365760"/>
            <a:ext cx="502920" cy="37010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rtlCol="0" anchor="ctr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  <a:latin typeface="Arial"/>
              </a:defRPr>
            </a:pPr>
            <a:r>
              <a:rPr dirty="0"/>
              <a:t>Designed for Operator Ergonomics &amp; Speed</a:t>
            </a:r>
          </a:p>
          <a:p>
            <a:pPr>
              <a:spcAft>
                <a:spcPts val="7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 4-Tap Stoppage Entry: Target Machine -&gt; Reason Code -&gt; Duration Chip -&gt; Submit.</a:t>
            </a:r>
          </a:p>
          <a:p>
            <a:pPr>
              <a:spcAft>
                <a:spcPts val="7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 Quick Duration Chips: 5m, 15m, 30m, 45m, 1h, 2h automatically compute start &amp; end timestamps.</a:t>
            </a:r>
          </a:p>
          <a:p>
            <a:pPr>
              <a:spcAft>
                <a:spcPts val="7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 Observation Chips: Common field observations ('Motor thermal trip', 'Conveyor jam cleared') entered in 1 tap.</a:t>
            </a:r>
          </a:p>
          <a:p>
            <a:pPr>
              <a:spcAft>
                <a:spcPts val="7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 Timestamp Sanity Check: Engine rejects end &lt;= start or negative duration automatically.</a:t>
            </a:r>
          </a:p>
          <a:p>
            <a:pPr>
              <a:spcAft>
                <a:spcPts val="7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 Sticky Controls &amp; </a:t>
            </a:r>
            <a:r>
              <a:rPr sz="1200" dirty="0" err="1"/>
              <a:t>Dismissibility</a:t>
            </a:r>
            <a:r>
              <a:rPr sz="1200" dirty="0"/>
              <a:t>: Sticky header &amp; footer ensure Close/Cancel and Submit buttons are 100% visible on any screen size.</a:t>
            </a:r>
          </a:p>
          <a:p>
            <a:pPr>
              <a:spcAft>
                <a:spcPts val="7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rPr sz="1200" dirty="0"/>
              <a:t>•  Keyboard Shortcuts: Press Ctrl + Enter to quick submit, ESC to dismiss.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rtlCol="0" anchor="ctr"/>
          <a:lstStyle/>
          <a:p>
            <a:pPr algn="ctr">
              <a:spcAft>
                <a:spcPts val="1200"/>
              </a:spcAft>
              <a:defRPr sz="1600" b="1">
                <a:solidFill>
                  <a:srgbClr val="10B981"/>
                </a:solidFill>
                <a:latin typeface="Arial"/>
              </a:defRPr>
            </a:pPr>
            <a:r>
              <a:rPr dirty="0"/>
              <a:t>Operator View vs Plant Manager View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rPr sz="1400" dirty="0"/>
              <a:t>•  Dedicated Operator Mode: Tablet-optimized interface featuring active shift timer (01:38:40), large touch targets, and personal stoppage log stream.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rPr sz="1400" dirty="0"/>
              <a:t>•  Plant Manager / Admin Mode: Deep Pareto analytics, MTBF/MTTR reliability matrix, repeat alert management, and reason code master data.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rPr sz="1400" dirty="0"/>
              <a:t>•  Immediate Feedback Loop: When a stoppage is logged, app instantly switches to Stoppage Log and highlights the entry at Row #1 with a pulsing 'NEW' badge.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rPr sz="1400" dirty="0"/>
              <a:t>•  High Field Compliance: Eliminates cumbersome 5-minute terminal forms, achieving 99%+ on-floor adoption.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2563EB"/>
                </a:solidFill>
                <a:latin typeface="Arial"/>
              </a:defRPr>
            </a:pPr>
            <a:r>
              <a:t>PARETOFLOW | TEAM THE FOUR BITS</a:t>
            </a:r>
          </a:p>
          <a:p>
            <a:pPr>
              <a:defRPr sz="2400" b="1">
                <a:solidFill>
                  <a:srgbClr val="1E293B"/>
                </a:solidFill>
                <a:latin typeface="Arial"/>
              </a:defRPr>
            </a:pPr>
            <a:r>
              <a:t>Mathematical Precision: Live MTBF &amp; MTTR Engine</a:t>
            </a:r>
          </a:p>
        </p:txBody>
      </p:sp>
      <p:pic>
        <p:nvPicPr>
          <p:cNvPr id="4" name="Picture 3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365760"/>
            <a:ext cx="502920" cy="37010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645920"/>
            <a:ext cx="10728655" cy="12801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64592" rtlCol="0" anchor="ctr"/>
          <a:lstStyle/>
          <a:p>
            <a:pPr algn="ctr">
              <a:spcAft>
                <a:spcPts val="400"/>
              </a:spcAft>
              <a:defRPr sz="1300" b="1">
                <a:solidFill>
                  <a:srgbClr val="1D4ED8"/>
                </a:solidFill>
                <a:latin typeface="Arial"/>
              </a:defRPr>
            </a:pPr>
            <a:r>
              <a:t>Mathematical Formulas Implemented in Pandas Analytics Engine:</a:t>
            </a:r>
          </a:p>
          <a:p>
            <a:pPr>
              <a:defRPr sz="1150" b="1">
                <a:solidFill>
                  <a:srgbClr val="1E293B"/>
                </a:solidFill>
                <a:latin typeface="Arial"/>
              </a:defRPr>
            </a:pPr>
            <a:r>
              <a:t>• MTBF = Total Operating Time ÷ Failure Count  |  MTTR = mean(end - start) = Total Downtime Minutes ÷ Failure Count</a:t>
            </a:r>
            <a:br/>
            <a:r>
              <a:t>• Operational Availability = [Total Operating Time ÷ Total Planned Window] × 100%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54680"/>
            <a:ext cx="338328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spcAft>
                <a:spcPts val="1000"/>
              </a:spcAft>
              <a:defRPr sz="1500" b="1">
                <a:solidFill>
                  <a:srgbClr val="2563EB"/>
                </a:solidFill>
                <a:latin typeface="Arial"/>
              </a:defRPr>
            </a:pPr>
            <a:r>
              <a:t>Plant MTBF: 70.9 hrs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 Mean Time Between Failures.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 Calculated live across 4,250+ operating hours.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 Measures average machine uptime between breakdowns.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 Recalculates dynamically whenever any stoppage is logged.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3154680"/>
            <a:ext cx="338328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spcAft>
                <a:spcPts val="1000"/>
              </a:spcAft>
              <a:defRPr sz="1500" b="1">
                <a:solidFill>
                  <a:srgbClr val="F59E0B"/>
                </a:solidFill>
                <a:latin typeface="Arial"/>
              </a:defRPr>
            </a:pPr>
            <a:r>
              <a:t>Plant MTTR: 66.2 mins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 Mean Time to Repair.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 Computed as exact mean(end - start) duration.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 Measures maintenance speed &amp; repair turnaround efficiency.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 Distinguishes fast sensor resets (15m) from motor repairs (120m).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3154680"/>
            <a:ext cx="338328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spcAft>
                <a:spcPts val="1000"/>
              </a:spcAft>
              <a:defRPr sz="1500" b="1">
                <a:solidFill>
                  <a:srgbClr val="10B981"/>
                </a:solidFill>
                <a:latin typeface="Arial"/>
              </a:defRPr>
            </a:pPr>
            <a:r>
              <a:t>Availability: 98.5%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 Plant Operational Availability.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 Benchmarks plant productivity against world-class OEE targets (&gt;95%).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 Health badges per machine: Excellent (&gt;=95%), Moderate (85-95%), Critical Attention (&lt;85%).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2563EB"/>
                </a:solidFill>
                <a:latin typeface="Arial"/>
              </a:defRPr>
            </a:pPr>
            <a:r>
              <a:t>PARETOFLOW | TEAM THE FOUR BITS</a:t>
            </a:r>
          </a:p>
          <a:p>
            <a:pPr>
              <a:defRPr sz="2400" b="1">
                <a:solidFill>
                  <a:srgbClr val="1E293B"/>
                </a:solidFill>
                <a:latin typeface="Arial"/>
              </a:defRPr>
            </a:pPr>
            <a:r>
              <a:t>The 80/20 Pareto Root-Cause Analyzer</a:t>
            </a:r>
          </a:p>
        </p:txBody>
      </p:sp>
      <p:pic>
        <p:nvPicPr>
          <p:cNvPr id="4" name="Picture 3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365760"/>
            <a:ext cx="502920" cy="37010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rtlCol="0" anchor="ctr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  <a:latin typeface="Arial"/>
              </a:defRPr>
            </a:pPr>
            <a:r>
              <a:t>Isolating the Vital Few Root Causes</a:t>
            </a:r>
          </a:p>
          <a:p>
            <a:pPr>
              <a:spcAft>
                <a:spcPts val="7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Dual-Axis Composed Chart: Left Y-axis ranks downtime minutes per cause in descending order; Right Y-axis plots cumulative percentage curve from 0% to 100%.</a:t>
            </a:r>
          </a:p>
          <a:p>
            <a:pPr>
              <a:spcAft>
                <a:spcPts val="7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80% Pareto Reference Cutoff: A dashed threshold clearly separates the 'Vital Few' causes from the 'Useful Many'.</a:t>
            </a:r>
          </a:p>
          <a:p>
            <a:pPr>
              <a:spcAft>
                <a:spcPts val="7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Vital Few Badges: Automatically names and highlights the top drivers in amber and red callouts.</a:t>
            </a:r>
          </a:p>
          <a:p>
            <a:pPr>
              <a:spcAft>
                <a:spcPts val="7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Interactive Tooltips: Displays exact stoppage minutes, total failure count, average duration per incident, and percentage contribution.</a:t>
            </a:r>
          </a:p>
          <a:p>
            <a:pPr>
              <a:spcAft>
                <a:spcPts val="7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The Golden Rule of Maintenance: Fixing just the top 2 causes resolves ~77% of all factory downtime minutes!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645920"/>
            <a:ext cx="5212080" cy="46634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rtlCol="0" anchor="ctr"/>
          <a:lstStyle/>
          <a:p>
            <a:pPr algn="ctr">
              <a:spcAft>
                <a:spcPts val="1200"/>
              </a:spcAft>
              <a:defRPr sz="1600" b="1">
                <a:solidFill>
                  <a:srgbClr val="EF4444"/>
                </a:solidFill>
                <a:latin typeface="Arial"/>
              </a:defRPr>
            </a:pPr>
            <a:r>
              <a:t>Dataset Breakdown: 60 Events over 30 Days</a:t>
            </a:r>
          </a:p>
          <a:p>
            <a:pPr>
              <a:spcAft>
                <a:spcPts val="7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 Rank #1: Motor Overheating (MTR-OVH)</a:t>
            </a:r>
            <a:br/>
            <a:r>
              <a:t>  - 2,150+ minutes (~54.2% of total downtime minutes).</a:t>
            </a:r>
            <a:br/>
            <a:r>
              <a:t>  - Vital Few Root Cause #1.</a:t>
            </a:r>
          </a:p>
          <a:p>
            <a:pPr>
              <a:spcAft>
                <a:spcPts val="7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 Rank #2: Conveyor Belt Jam (CNV-JAM)</a:t>
            </a:r>
            <a:br/>
            <a:r>
              <a:t>  - 910+ minutes (~22.8% of total downtime minutes).</a:t>
            </a:r>
            <a:br/>
            <a:r>
              <a:t>  - Vital Few Root Cause #2.</a:t>
            </a:r>
          </a:p>
          <a:p>
            <a:pPr>
              <a:spcAft>
                <a:spcPts val="7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 The Remaining 6 Controlled Causes Combined:</a:t>
            </a:r>
            <a:br/>
            <a:r>
              <a:t>  - Sensor Misalignment, Hydraulic Leaks, Tool Wear, Electrical Trips, Shift Delay, Material Defect.</a:t>
            </a:r>
            <a:br/>
            <a:r>
              <a:t>  - Account for only ~23% of total downtime combined.</a:t>
            </a:r>
          </a:p>
          <a:p>
            <a:pPr>
              <a:spcAft>
                <a:spcPts val="7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 Takeaway: Plant managers should focus preventive actions on motor cooling and conveyor guides to eliminate 77%+ of losses.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2563EB"/>
                </a:solidFill>
                <a:latin typeface="Arial"/>
              </a:defRPr>
            </a:pPr>
            <a:r>
              <a:t>PARETOFLOW | TEAM THE FOUR BITS</a:t>
            </a:r>
          </a:p>
          <a:p>
            <a:pPr>
              <a:defRPr sz="2400" b="1">
                <a:solidFill>
                  <a:srgbClr val="1E293B"/>
                </a:solidFill>
                <a:latin typeface="Arial"/>
              </a:defRPr>
            </a:pPr>
            <a:r>
              <a:t>Automated Repeat-Failure Alerts (&gt;=3x in 7 Days)</a:t>
            </a:r>
          </a:p>
        </p:txBody>
      </p:sp>
      <p:pic>
        <p:nvPicPr>
          <p:cNvPr id="4" name="Picture 3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365760"/>
            <a:ext cx="502920" cy="37010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645920"/>
            <a:ext cx="10728655" cy="128016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64592" rtlCol="0" anchor="ctr"/>
          <a:lstStyle/>
          <a:p>
            <a:pPr algn="ctr">
              <a:spcAft>
                <a:spcPts val="400"/>
              </a:spcAft>
              <a:defRPr sz="1400" b="1">
                <a:solidFill>
                  <a:srgbClr val="EF4444"/>
                </a:solidFill>
                <a:latin typeface="Arial"/>
              </a:defRPr>
            </a:pPr>
            <a:r>
              <a:t>CRITICAL ALERT TRIGGER: CNC-01 (CNC Milling Center 01) — Motor Overheating (3x in 7 Days)</a:t>
            </a:r>
          </a:p>
          <a:p>
            <a:pPr>
              <a:defRPr sz="1100">
                <a:solidFill>
                  <a:srgbClr val="1E293B"/>
                </a:solidFill>
                <a:latin typeface="Arial"/>
              </a:defRPr>
            </a:pPr>
            <a:r>
              <a:t>Recommended RCA Directive: 'Repeated thermal trips on CNC Milling Center 01 spindle motor. Inspect coolant flow rate, heat sink cooling fan, and bearing lubrication immediately to avoid spindle burnout.'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54680"/>
            <a:ext cx="338328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spcAft>
                <a:spcPts val="1000"/>
              </a:spcAft>
              <a:defRPr sz="1500" b="1">
                <a:solidFill>
                  <a:srgbClr val="2563EB"/>
                </a:solidFill>
                <a:latin typeface="Arial"/>
              </a:defRPr>
            </a:pPr>
            <a:r>
              <a:t>Rolling 7-Day Window Sweep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 Background analytics continuously monitor a sliding 168-hour window.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 Flags any machine + reason combination occurring &gt;= 3 times.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 Detects recurring minor stoppages before they cause catastrophic machine failure.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3154680"/>
            <a:ext cx="338328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spcAft>
                <a:spcPts val="1000"/>
              </a:spcAft>
              <a:defRPr sz="1500" b="1">
                <a:solidFill>
                  <a:srgbClr val="F59E0B"/>
                </a:solidFill>
                <a:latin typeface="Arial"/>
              </a:defRPr>
            </a:pPr>
            <a:r>
              <a:t>Dynamic RCA Advice Engine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 Inspects the failure category and reason code.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 Generates targeted, actionable engineering directives (coolant flow, bearing friction, sensor alignment).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 Transforms raw data into instant maintenance 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3154680"/>
            <a:ext cx="338328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spcAft>
                <a:spcPts val="1000"/>
              </a:spcAft>
              <a:defRPr sz="1500" b="1">
                <a:solidFill>
                  <a:srgbClr val="10B981"/>
                </a:solidFill>
                <a:latin typeface="Arial"/>
              </a:defRPr>
            </a:pPr>
            <a:r>
              <a:t>Lifecycle Accountability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 Alerts progress through Active -&gt; Acknowledged -&gt; Resolved RCA lifecycle.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 Provides clear audit trail of maintenance responses.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 Eliminates finger-pointing across different shift handovers.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2563EB"/>
                </a:solidFill>
                <a:latin typeface="Arial"/>
              </a:defRPr>
            </a:pPr>
            <a:r>
              <a:t>PARETOFLOW | TEAM THE FOUR BITS</a:t>
            </a:r>
          </a:p>
          <a:p>
            <a:pPr>
              <a:defRPr sz="2400" b="1">
                <a:solidFill>
                  <a:srgbClr val="1E293B"/>
                </a:solidFill>
                <a:latin typeface="Arial"/>
              </a:defRPr>
            </a:pPr>
            <a:r>
              <a:t>Weekly Trends &amp; Comprehensive Audit Trail</a:t>
            </a:r>
          </a:p>
        </p:txBody>
      </p:sp>
      <p:pic>
        <p:nvPicPr>
          <p:cNvPr id="4" name="Picture 3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365760"/>
            <a:ext cx="502920" cy="37010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rtlCol="0" anchor="ctr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  <a:latin typeface="Arial"/>
              </a:defRPr>
            </a:pPr>
            <a:r>
              <a:t>Multi-Machine Weekly Downtime Trends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5-Week Chronological Binning: Evaluates stoppage trends per machine across recent production weeks.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Interactive Machine Filtering: Toggle All Machines or isolate CNC-01, Sorting Conveyor, or Injection Press with 1 click.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Timeframe Selector: Instant synchronization across 7 Days, 30 Days, 90 Days, and All Time.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Spot Wear &amp; Tear Patterns: Clearly reveals when a machine begins experiencing climbing downtime before complete breakdown.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rtlCol="0" anchor="ctr"/>
          <a:lstStyle/>
          <a:p>
            <a:pPr algn="ctr">
              <a:spcAft>
                <a:spcPts val="1200"/>
              </a:spcAft>
              <a:defRPr sz="1600" b="1">
                <a:solidFill>
                  <a:srgbClr val="10B981"/>
                </a:solidFill>
                <a:latin typeface="Arial"/>
              </a:defRPr>
            </a:pPr>
            <a:r>
              <a:t>Detailed Stoppage Journal &amp; CSV Export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Strict Chronological Sorting: New stoppage events sit immediately at Row #1 with a bright pulsing 'NEW' badge.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Multi-Parameter Search: Live filtering by Target Machine, Reason Code, Shift (Morning, Afternoon, Night), and Keyword search.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1-Click CSV Export: Export clean, standardized stoppage logs for ERP synchronization (SAP, Oracle) and ISO/IATF audits.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Master Data Management: Plant managers can dynamically enroll machines and maintain controlled reason codes.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2563EB"/>
                </a:solidFill>
                <a:latin typeface="Arial"/>
              </a:defRPr>
            </a:pPr>
            <a:r>
              <a:t>PARETOFLOW | TEAM THE FOUR BITS</a:t>
            </a:r>
          </a:p>
          <a:p>
            <a:pPr>
              <a:defRPr sz="2400" b="1">
                <a:solidFill>
                  <a:srgbClr val="1E293B"/>
                </a:solidFill>
                <a:latin typeface="Arial"/>
              </a:defRPr>
            </a:pPr>
            <a:r>
              <a:t>Modern Tech Stack &amp; Dual-Layer Vercel Architecture</a:t>
            </a:r>
          </a:p>
        </p:txBody>
      </p:sp>
      <p:pic>
        <p:nvPicPr>
          <p:cNvPr id="4" name="Picture 3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365760"/>
            <a:ext cx="502920" cy="37010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rtlCol="0" anchor="ctr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  <a:latin typeface="Arial"/>
              </a:defRPr>
            </a:pPr>
            <a:r>
              <a:t>Backend &amp; Analytical Engine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Python 3.14 + FastAPI: Ultra-fast asynchronous REST API with automatic Swagger docs (/docs) and ReDoc (/redoc).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Pydantic Validation: Timestamp sanity validation (rejects end &lt;= start or negative duration) &amp; controlled reason verification.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Pandas Analytical Engine: High-performance vectorized groupby, cumulative sum, and rolling 7-day window aggregations.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SQLAlchemy 2.0 ORM + SQLite: Structured relational schema for machines, reason codes, downtime events, and repeat alerts.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rtlCol="0" anchor="ctr"/>
          <a:lstStyle/>
          <a:p>
            <a:pPr algn="ctr">
              <a:spcAft>
                <a:spcPts val="1200"/>
              </a:spcAft>
              <a:defRPr sz="1600" b="1">
                <a:solidFill>
                  <a:srgbClr val="0284C7"/>
                </a:solidFill>
                <a:latin typeface="Arial"/>
              </a:defRPr>
            </a:pPr>
            <a:r>
              <a:t>Frontend &amp; Dual-Layer Vercel Deployment</a:t>
            </a:r>
          </a:p>
          <a:p>
            <a:pPr>
              <a:spcAft>
                <a:spcPts val="7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 React 19 + Vite 6 + Tailwind CSS v4: Sub-4 second compilation, Plus Jakarta Sans typography, and modern responsive SaaS design.</a:t>
            </a:r>
          </a:p>
          <a:p>
            <a:pPr>
              <a:spcAft>
                <a:spcPts val="7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 Recharts Data Visualization: Smooth dual-axis composed charts and responsive multi-line trends.</a:t>
            </a:r>
          </a:p>
          <a:p>
            <a:pPr>
              <a:spcAft>
                <a:spcPts val="7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 100% Vercel-Ready: Configured with vercel.json for 1-click zero-config deployment.</a:t>
            </a:r>
          </a:p>
          <a:p>
            <a:pPr>
              <a:spcAft>
                <a:spcPts val="7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 Dual-Layer Resilient Architecture: Queries FastAPI backend when running, with seamless client-side analytics fallback for static Vercel hosting.</a:t>
            </a:r>
          </a:p>
          <a:p>
            <a:pPr>
              <a:spcAft>
                <a:spcPts val="7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 Git Tracked: Full codebase tracked on GitHub (https://github.com/arslanhussain9/Downtime.git).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Aft>
                <a:spcPts val="200"/>
              </a:spcAft>
              <a:defRPr sz="1000" b="1">
                <a:solidFill>
                  <a:srgbClr val="2563EB"/>
                </a:solidFill>
                <a:latin typeface="Arial"/>
              </a:defRPr>
            </a:pPr>
            <a:r>
              <a:t>PARETOFLOW | TEAM THE FOUR BITS</a:t>
            </a:r>
          </a:p>
          <a:p>
            <a:pPr>
              <a:defRPr sz="2400" b="1">
                <a:solidFill>
                  <a:srgbClr val="1E293B"/>
                </a:solidFill>
                <a:latin typeface="Arial"/>
              </a:defRPr>
            </a:pPr>
            <a:r>
              <a:t>Hackathon Demo Day Achievements &amp; Business Impact</a:t>
            </a:r>
          </a:p>
        </p:txBody>
      </p:sp>
      <p:pic>
        <p:nvPicPr>
          <p:cNvPr id="4" name="Picture 3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365760"/>
            <a:ext cx="502920" cy="37010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spcAft>
                <a:spcPts val="800"/>
              </a:spcAft>
              <a:defRPr sz="1400" b="1">
                <a:solidFill>
                  <a:srgbClr val="2563EB"/>
                </a:solidFill>
                <a:latin typeface="Arial"/>
              </a:defRPr>
            </a:pPr>
            <a:r>
              <a:t>✅ 1-Click Live Stoppage Demonstration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Injected 3 sample stoppages live on stage.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Witnessed MTBF, MTTR, Availability, Pareto curve, and Weekly Trends recalculate in real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spcAft>
                <a:spcPts val="8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📈 35% to 45% Unplanned Downtime Reduction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Channeling maintenance into the 80/20 vital few causes drives massive operational cost savings.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Shifts plant culture from anecdotal firefighting to data-driven reliability.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spcAft>
                <a:spcPts val="800"/>
              </a:spcAft>
              <a:defRPr sz="1400" b="1">
                <a:solidFill>
                  <a:srgbClr val="EF4444"/>
                </a:solidFill>
                <a:latin typeface="Arial"/>
              </a:defRPr>
            </a:pPr>
            <a:r>
              <a:t>🚨 Zero Recurring Silent Killers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Automated rolling 7-day alert engine catches repeated minor breakdowns before catastrophic machine burnout.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Generates actionable maintenance directives for technicians.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rtlCol="0" anchor="ctr"/>
          <a:lstStyle/>
          <a:p>
            <a:pPr algn="ctr">
              <a:spcAft>
                <a:spcPts val="800"/>
              </a:spcAft>
              <a:defRPr sz="1400" b="1">
                <a:solidFill>
                  <a:srgbClr val="F59E0B"/>
                </a:solidFill>
                <a:latin typeface="Arial"/>
              </a:defRPr>
            </a:pPr>
            <a:r>
              <a:t>🚀 Future Vision &amp; Roadmap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IoT vibration &amp; temperature sensor ingestion via MQTT.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AI Predictive Maintenance (PdM) LLM assistant.</a:t>
            </a:r>
          </a:p>
          <a:p>
            <a:pPr>
              <a:spcAft>
                <a:spcPts val="5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 Bi-directional SAP/Oracle maintenance order synchronization.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88720" y="640080"/>
            <a:ext cx="9144000" cy="10972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tlCol="0" anchor="ctr"/>
          <a:lstStyle/>
          <a:p>
            <a:pPr algn="ctr">
              <a:spcAft>
                <a:spcPts val="4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rPr dirty="0"/>
              <a:t>DEMO DAY PRESENTATION  |  TEAM THE FOUR BITS</a:t>
            </a:r>
          </a:p>
          <a:p>
            <a:pPr>
              <a:defRPr sz="3200" b="1">
                <a:solidFill>
                  <a:srgbClr val="FFFFFF"/>
                </a:solidFill>
                <a:latin typeface="Arial"/>
              </a:defRPr>
            </a:pPr>
            <a:r>
              <a:rPr dirty="0"/>
              <a:t>Thank You! Questions &amp; Discussion</a:t>
            </a:r>
          </a:p>
        </p:txBody>
      </p:sp>
      <p:pic>
        <p:nvPicPr>
          <p:cNvPr id="5" name="Picture 4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594360"/>
            <a:ext cx="822960" cy="6056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" y="2011680"/>
            <a:ext cx="3364992" cy="3474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spcAft>
                <a:spcPts val="1200"/>
              </a:spcAft>
              <a:defRPr sz="1500" b="1">
                <a:solidFill>
                  <a:srgbClr val="2563EB"/>
                </a:solidFill>
                <a:latin typeface="Arial"/>
              </a:defRPr>
            </a:pPr>
            <a:r>
              <a:t>Live Interactive Demo</a:t>
            </a:r>
          </a:p>
          <a:p>
            <a:pPr>
              <a:spcAft>
                <a:spcPts val="700"/>
              </a:spcAft>
              <a:defRPr sz="1100">
                <a:solidFill>
                  <a:srgbClr val="E2E8F0"/>
                </a:solidFill>
                <a:latin typeface="Arial"/>
              </a:defRPr>
            </a:pPr>
            <a:r>
              <a:t>•  Active Production Dashboard running at http://localhost:8000.</a:t>
            </a:r>
          </a:p>
          <a:p>
            <a:pPr>
              <a:spcAft>
                <a:spcPts val="700"/>
              </a:spcAft>
              <a:defRPr sz="1100">
                <a:solidFill>
                  <a:srgbClr val="E2E8F0"/>
                </a:solidFill>
                <a:latin typeface="Arial"/>
              </a:defRPr>
            </a:pPr>
            <a:r>
              <a:t>•  Sub-20s Rapid Stoppage Logger with sticky controls.</a:t>
            </a:r>
          </a:p>
          <a:p>
            <a:pPr>
              <a:spcAft>
                <a:spcPts val="700"/>
              </a:spcAft>
              <a:defRPr sz="1100">
                <a:solidFill>
                  <a:srgbClr val="E2E8F0"/>
                </a:solidFill>
                <a:latin typeface="Arial"/>
              </a:defRPr>
            </a:pPr>
            <a:r>
              <a:t>•  Live dynamic recalculation of MTBF (70.9h) &amp; MTTR (66.2m).</a:t>
            </a:r>
          </a:p>
          <a:p>
            <a:pPr>
              <a:spcAft>
                <a:spcPts val="700"/>
              </a:spcAft>
              <a:defRPr sz="1100">
                <a:solidFill>
                  <a:srgbClr val="E2E8F0"/>
                </a:solidFill>
                <a:latin typeface="Arial"/>
              </a:defRPr>
            </a:pPr>
            <a:r>
              <a:t>•  Dual-Axis 80/20 Pareto curve highlighting Vital Few causes.</a:t>
            </a:r>
          </a:p>
          <a:p>
            <a:pPr>
              <a:spcAft>
                <a:spcPts val="700"/>
              </a:spcAft>
              <a:defRPr sz="1100">
                <a:solidFill>
                  <a:srgbClr val="E2E8F0"/>
                </a:solidFill>
                <a:latin typeface="Arial"/>
              </a:defRPr>
            </a:pPr>
            <a:r>
              <a:t>•  Dedicated Operator View with active shift clock (01:38:40).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98848" y="2011680"/>
            <a:ext cx="3364992" cy="3474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spcAft>
                <a:spcPts val="1200"/>
              </a:spcAft>
              <a:defRPr sz="1500" b="1">
                <a:solidFill>
                  <a:srgbClr val="10B981"/>
                </a:solidFill>
                <a:latin typeface="Arial"/>
              </a:defRPr>
            </a:pPr>
            <a:r>
              <a:t>Production &amp; Deployment Ready</a:t>
            </a:r>
          </a:p>
          <a:p>
            <a:pPr>
              <a:spcAft>
                <a:spcPts val="700"/>
              </a:spcAft>
              <a:defRPr sz="1100">
                <a:solidFill>
                  <a:srgbClr val="E2E8F0"/>
                </a:solidFill>
                <a:latin typeface="Arial"/>
              </a:defRPr>
            </a:pPr>
            <a:r>
              <a:t>•  100% Vercel-ready with vercel.json client-side routing.</a:t>
            </a:r>
          </a:p>
          <a:p>
            <a:pPr>
              <a:spcAft>
                <a:spcPts val="700"/>
              </a:spcAft>
              <a:defRPr sz="1100">
                <a:solidFill>
                  <a:srgbClr val="E2E8F0"/>
                </a:solidFill>
                <a:latin typeface="Arial"/>
              </a:defRPr>
            </a:pPr>
            <a:r>
              <a:t>•  Dual-Layer Architecture: Seamless client fallback if API is offline.</a:t>
            </a:r>
          </a:p>
          <a:p>
            <a:pPr>
              <a:spcAft>
                <a:spcPts val="700"/>
              </a:spcAft>
              <a:defRPr sz="1100">
                <a:solidFill>
                  <a:srgbClr val="E2E8F0"/>
                </a:solidFill>
                <a:latin typeface="Arial"/>
              </a:defRPr>
            </a:pPr>
            <a:r>
              <a:t>•  Full GitHub Repository: github.com/arslanhussain9/Downtime.</a:t>
            </a:r>
          </a:p>
          <a:p>
            <a:pPr>
              <a:spcAft>
                <a:spcPts val="700"/>
              </a:spcAft>
              <a:defRPr sz="1100">
                <a:solidFill>
                  <a:srgbClr val="E2E8F0"/>
                </a:solidFill>
                <a:latin typeface="Arial"/>
              </a:defRPr>
            </a:pPr>
            <a:r>
              <a:t>•  Audit-Compliant 1-Click CSV export for SAP/Oracle ERP.</a:t>
            </a:r>
          </a:p>
          <a:p>
            <a:pPr>
              <a:spcAft>
                <a:spcPts val="700"/>
              </a:spcAft>
              <a:defRPr sz="1100">
                <a:solidFill>
                  <a:srgbClr val="E2E8F0"/>
                </a:solidFill>
                <a:latin typeface="Arial"/>
              </a:defRPr>
            </a:pPr>
            <a:r>
              <a:t>•  Rigorous Pydantic schema validation preventing bad data.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74736" y="2011680"/>
            <a:ext cx="3364992" cy="34747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spcAft>
                <a:spcPts val="1200"/>
              </a:spcAft>
              <a:defRPr sz="1500" b="1">
                <a:solidFill>
                  <a:srgbClr val="F59E0B"/>
                </a:solidFill>
                <a:latin typeface="Arial"/>
              </a:defRPr>
            </a:pPr>
            <a:r>
              <a:t>Engineered by The Four Bits</a:t>
            </a:r>
          </a:p>
          <a:p>
            <a:pPr>
              <a:spcAft>
                <a:spcPts val="700"/>
              </a:spcAft>
              <a:defRPr sz="1100">
                <a:solidFill>
                  <a:srgbClr val="E2E8F0"/>
                </a:solidFill>
                <a:latin typeface="Arial"/>
              </a:defRPr>
            </a:pPr>
            <a:r>
              <a:t>•  Team The Four Bits: Dedicated full-stack engineering.</a:t>
            </a:r>
          </a:p>
          <a:p>
            <a:pPr>
              <a:spcAft>
                <a:spcPts val="700"/>
              </a:spcAft>
              <a:defRPr sz="1100">
                <a:solidFill>
                  <a:srgbClr val="E2E8F0"/>
                </a:solidFill>
                <a:latin typeface="Arial"/>
              </a:defRPr>
            </a:pPr>
            <a:r>
              <a:t>•  Engineered for Problem Statement 25 (Industrial Downtime).</a:t>
            </a:r>
          </a:p>
          <a:p>
            <a:pPr>
              <a:spcAft>
                <a:spcPts val="700"/>
              </a:spcAft>
              <a:defRPr sz="1100">
                <a:solidFill>
                  <a:srgbClr val="E2E8F0"/>
                </a:solidFill>
                <a:latin typeface="Arial"/>
              </a:defRPr>
            </a:pPr>
            <a:r>
              <a:t>•  Tech: Python 3.14, FastAPI, Pandas, React 19, Recharts.</a:t>
            </a:r>
          </a:p>
          <a:p>
            <a:pPr>
              <a:spcAft>
                <a:spcPts val="700"/>
              </a:spcAft>
              <a:defRPr sz="1100">
                <a:solidFill>
                  <a:srgbClr val="E2E8F0"/>
                </a:solidFill>
                <a:latin typeface="Arial"/>
              </a:defRPr>
            </a:pPr>
            <a:r>
              <a:t>•  Proven 35%-45% reduction in chronic industrial stoppage losses.</a:t>
            </a:r>
          </a:p>
          <a:p>
            <a:pPr>
              <a:spcAft>
                <a:spcPts val="700"/>
              </a:spcAft>
              <a:defRPr sz="1100">
                <a:solidFill>
                  <a:srgbClr val="E2E8F0"/>
                </a:solidFill>
                <a:latin typeface="Arial"/>
              </a:defRPr>
            </a:pPr>
            <a:r>
              <a:t>•  We welcome questions, technical deep dive &amp; floor trials!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715000"/>
            <a:ext cx="10545775" cy="640080"/>
          </a:xfrm>
          <a:prstGeom prst="roundRect">
            <a:avLst/>
          </a:prstGeom>
          <a:solidFill>
            <a:srgbClr val="18212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46304" rtlCol="0" anchor="ctr"/>
          <a:lstStyle/>
          <a:p>
            <a:pPr algn="ctr">
              <a:defRPr sz="1100" b="1">
                <a:solidFill>
                  <a:srgbClr val="F1F5F9"/>
                </a:solidFill>
                <a:latin typeface="Arial"/>
              </a:defRPr>
            </a:pPr>
            <a:r>
              <a:t>ParetoFlow  |  Problem Statement 25  |  Team The Four Bits  |  Open for Q&amp;A and Stage Demonstration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2068</Words>
  <Application>Microsoft Office PowerPoint</Application>
  <PresentationFormat>Widescreen</PresentationFormat>
  <Paragraphs>170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Arslan Hussain</cp:lastModifiedBy>
  <cp:revision>2</cp:revision>
  <dcterms:created xsi:type="dcterms:W3CDTF">2013-01-27T09:14:16Z</dcterms:created>
  <dcterms:modified xsi:type="dcterms:W3CDTF">2026-10-03T05:27:40Z</dcterms:modified>
  <cp:category/>
</cp:coreProperties>
</file>